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1.xml" ContentType="application/vnd.openxmlformats-officedocument.presentationml.notesSlide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notesSlides/notesSlide2.xml" ContentType="application/vnd.openxmlformats-officedocument.presentationml.notesSlide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"/>
  </p:notesMasterIdLst>
  <p:sldIdLst>
    <p:sldId id="750" r:id="rId2"/>
    <p:sldId id="752" r:id="rId3"/>
    <p:sldId id="751" r:id="rId4"/>
  </p:sldIdLst>
  <p:sldSz cx="9144000" cy="6858000" type="screen4x3"/>
  <p:notesSz cx="6858000" cy="9144000"/>
  <p:custDataLst>
    <p:tags r:id="rId6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026" userDrawn="1">
          <p15:clr>
            <a:srgbClr val="A4A3A4"/>
          </p15:clr>
        </p15:guide>
        <p15:guide id="2" pos="2985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作者" initials="A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4D4D4"/>
    <a:srgbClr val="D5D5D5"/>
    <a:srgbClr val="4F81BD"/>
    <a:srgbClr val="EE780C"/>
    <a:srgbClr val="57779F"/>
    <a:srgbClr val="558ED5"/>
    <a:srgbClr val="755B94"/>
    <a:srgbClr val="829D4B"/>
    <a:srgbClr val="3399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2132" autoAdjust="0"/>
    <p:restoredTop sz="94286" autoAdjust="0"/>
  </p:normalViewPr>
  <p:slideViewPr>
    <p:cSldViewPr showGuides="1">
      <p:cViewPr varScale="1">
        <p:scale>
          <a:sx n="120" d="100"/>
          <a:sy n="120" d="100"/>
        </p:scale>
        <p:origin x="1528" y="192"/>
      </p:cViewPr>
      <p:guideLst>
        <p:guide orient="horz" pos="2026"/>
        <p:guide pos="2985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95" d="100"/>
        <a:sy n="95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commentAuthors" Target="commentAuthor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gs" Target="tags/tag1.xml"/><Relationship Id="rId11" Type="http://schemas.openxmlformats.org/officeDocument/2006/relationships/tableStyles" Target="tableStyles.xml"/><Relationship Id="rId5" Type="http://schemas.openxmlformats.org/officeDocument/2006/relationships/notesMaster" Target="notesMasters/notesMaster1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3AFC8B1-7479-429C-B841-F5FC79370B10}" type="datetimeFigureOut">
              <a:rPr lang="zh-CN" altLang="en-US" smtClean="0"/>
              <a:t>2026/7/12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F40393F-5E0F-4DBD-896B-129327FBA75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227BB79B-B441-4B00-89FC-C1528CF653FA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1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7430631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227BB79B-B441-4B00-89FC-C1528CF653FA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2706799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227BB79B-B441-4B00-89FC-C1528CF653FA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3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28664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D7D5A120-0859-4FE0-85FA-616992456314}" type="datetimeFigureOut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2026/7/12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E9C23E1F-FC4D-407F-934F-EE7496890EE6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‹#›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D7D5A120-0859-4FE0-85FA-616992456314}" type="datetimeFigureOut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2026/7/12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E9C23E1F-FC4D-407F-934F-EE7496890EE6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‹#›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D7D5A120-0859-4FE0-85FA-616992456314}" type="datetimeFigureOut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2026/7/12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E9C23E1F-FC4D-407F-934F-EE7496890EE6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‹#›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D7D5A120-0859-4FE0-85FA-616992456314}" type="datetimeFigureOut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2026/7/12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E9C23E1F-FC4D-407F-934F-EE7496890EE6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‹#›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D7D5A120-0859-4FE0-85FA-616992456314}" type="datetimeFigureOut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2026/7/12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E9C23E1F-FC4D-407F-934F-EE7496890EE6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‹#›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D7D5A120-0859-4FE0-85FA-616992456314}" type="datetimeFigureOut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2026/7/12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E9C23E1F-FC4D-407F-934F-EE7496890EE6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‹#›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D7D5A120-0859-4FE0-85FA-616992456314}" type="datetimeFigureOut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2026/7/12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E9C23E1F-FC4D-407F-934F-EE7496890EE6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‹#›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D7D5A120-0859-4FE0-85FA-616992456314}" type="datetimeFigureOut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2026/7/12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E9C23E1F-FC4D-407F-934F-EE7496890EE6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‹#›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D7D5A120-0859-4FE0-85FA-616992456314}" type="datetimeFigureOut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2026/7/12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E9C23E1F-FC4D-407F-934F-EE7496890EE6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‹#›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D7D5A120-0859-4FE0-85FA-616992456314}" type="datetimeFigureOut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2026/7/12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E9C23E1F-FC4D-407F-934F-EE7496890EE6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‹#›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D7D5A120-0859-4FE0-85FA-616992456314}" type="datetimeFigureOut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2026/7/12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E9C23E1F-FC4D-407F-934F-EE7496890EE6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‹#›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advClick="0" advTm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D7D5A120-0859-4FE0-85FA-616992456314}" type="datetimeFigureOut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2026/7/12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E9C23E1F-FC4D-407F-934F-EE7496890EE6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‹#›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tags" Target="../tags/tag4.xml"/><Relationship Id="rId7" Type="http://schemas.openxmlformats.org/officeDocument/2006/relationships/image" Target="../media/image2.png"/><Relationship Id="rId2" Type="http://schemas.openxmlformats.org/officeDocument/2006/relationships/tags" Target="../tags/tag3.xml"/><Relationship Id="rId1" Type="http://schemas.openxmlformats.org/officeDocument/2006/relationships/tags" Target="../tags/tag2.xml"/><Relationship Id="rId6" Type="http://schemas.openxmlformats.org/officeDocument/2006/relationships/image" Target="../media/image1.png"/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tags" Target="../tags/tag5.xml"/><Relationship Id="rId6" Type="http://schemas.openxmlformats.org/officeDocument/2006/relationships/image" Target="../media/image3.png"/><Relationship Id="rId5" Type="http://schemas.openxmlformats.org/officeDocument/2006/relationships/notesSlide" Target="../notesSlides/notesSlide2.xml"/><Relationship Id="rId4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9.xml"/><Relationship Id="rId1" Type="http://schemas.openxmlformats.org/officeDocument/2006/relationships/tags" Target="../tags/tag8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Box 5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0" y="-1270"/>
            <a:ext cx="9139555" cy="72000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accent3">
                <a:lumMod val="20000"/>
                <a:lumOff val="80000"/>
              </a:schemeClr>
            </a:solidFill>
            <a:miter lim="800000"/>
          </a:ln>
          <a:effectLst/>
        </p:spPr>
        <p:txBody>
          <a:bodyPr wrap="square" anchor="ctr" anchorCtr="0">
            <a:noAutofit/>
          </a:bodyPr>
          <a:lstStyle/>
          <a:p>
            <a:pPr lvl="0" algn="ctr">
              <a:buClrTx/>
              <a:buSzTx/>
              <a:buFontTx/>
            </a:pPr>
            <a:r>
              <a:rPr lang="zh-CN" altLang="en-US" sz="3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标志性成果</a:t>
            </a:r>
            <a:r>
              <a:rPr lang="en-US" altLang="zh-CN" sz="3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1</a:t>
            </a:r>
            <a:r>
              <a:rPr lang="zh-CN" altLang="en-US" sz="3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：</a:t>
            </a:r>
            <a:r>
              <a:rPr sz="32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新型</a:t>
            </a:r>
            <a:r>
              <a:rPr lang="zh-CN" altLang="en-US" sz="3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实际</a:t>
            </a:r>
            <a:r>
              <a:rPr lang="en-US" altLang="zh-CN" sz="3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cube</a:t>
            </a:r>
            <a:r>
              <a:rPr lang="zh-CN" altLang="en-US" sz="3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攻击</a:t>
            </a:r>
            <a:r>
              <a:rPr sz="32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技术取得突破</a:t>
            </a:r>
            <a:endParaRPr sz="3200" b="1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5" name="内容占位符 4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0" y="724534"/>
            <a:ext cx="9144000" cy="2739963"/>
          </a:xfrm>
        </p:spPr>
        <p:txBody>
          <a:bodyPr vert="horz" lIns="91440" tIns="45720" rIns="91440" bIns="45720" rtlCol="0">
            <a:noAutofit/>
          </a:bodyPr>
          <a:lstStyle/>
          <a:p>
            <a:pPr lvl="0" algn="l" fontAlgn="auto">
              <a:lnSpc>
                <a:spcPct val="200000"/>
              </a:lnSpc>
              <a:spcBef>
                <a:spcPts val="0"/>
              </a:spcBef>
              <a:buClrTx/>
              <a:buSzTx/>
              <a:buFont typeface="Wingdings" panose="05000000000000000000" pitchFamily="2" charset="2"/>
              <a:buChar char="n"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高轮数流密码（如 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Trivium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）难以实现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实际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cube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攻击</a:t>
            </a:r>
            <a:endParaRPr lang="en-US" altLang="zh-CN" sz="2000" b="1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>
              <a:spcBef>
                <a:spcPts val="0"/>
              </a:spcBef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超多项式恢复</a:t>
            </a:r>
            <a:r>
              <a:rPr lang="zh-CN" altLang="en-US" sz="20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存在大量冗余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（偶数解）</a:t>
            </a:r>
          </a:p>
          <a:p>
            <a:pPr>
              <a:spcBef>
                <a:spcPts val="0"/>
              </a:spcBef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高轮数下</a:t>
            </a:r>
            <a:r>
              <a:rPr lang="zh-CN" altLang="en-US" sz="20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几乎无法获得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可求解超多项式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marL="0" lvl="0" indent="0" algn="l" fontAlgn="auto">
              <a:lnSpc>
                <a:spcPts val="2600"/>
              </a:lnSpc>
              <a:spcBef>
                <a:spcPts val="0"/>
              </a:spcBef>
              <a:buClrTx/>
              <a:buSzTx/>
              <a:buNone/>
            </a:pP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>
              <a:lnSpc>
                <a:spcPct val="150000"/>
              </a:lnSpc>
              <a:spcBef>
                <a:spcPts val="0"/>
              </a:spcBef>
              <a:buFont typeface="Wingdings" pitchFamily="2" charset="2"/>
              <a:buChar char="n"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提出了全新的</a:t>
            </a:r>
            <a:r>
              <a:rPr lang="zh-CN" altLang="en-US" sz="20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基于恢复大规模超多项式的实际</a:t>
            </a:r>
            <a:r>
              <a:rPr lang="en-US" altLang="zh-CN" sz="20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cube</a:t>
            </a:r>
            <a:r>
              <a:rPr lang="zh-CN" altLang="en-US" sz="20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攻击方法</a:t>
            </a:r>
            <a:endParaRPr lang="en-US" altLang="zh-CN" sz="2000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>
              <a:lnSpc>
                <a:spcPct val="150000"/>
              </a:lnSpc>
              <a:spcBef>
                <a:spcPts val="0"/>
              </a:spcBef>
              <a:buFont typeface="Wingdings" pitchFamily="2" charset="2"/>
              <a:buChar char="n"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将 </a:t>
            </a:r>
            <a:r>
              <a:rPr lang="en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Trivium 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的实际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cube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攻击从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2024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年的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825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轮提升至</a:t>
            </a:r>
            <a:r>
              <a:rPr lang="en-US" altLang="zh-CN" sz="20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832</a:t>
            </a:r>
            <a:r>
              <a:rPr lang="zh-CN" altLang="en-US" sz="20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轮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marL="0" lvl="0" indent="0" algn="l" fontAlgn="auto">
              <a:lnSpc>
                <a:spcPts val="2600"/>
              </a:lnSpc>
              <a:spcBef>
                <a:spcPts val="0"/>
              </a:spcBef>
              <a:buClrTx/>
              <a:buSzTx/>
              <a:buNone/>
            </a:pP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pic>
        <p:nvPicPr>
          <p:cNvPr id="1026" name="Picture 2" descr="TRIVIUM: 密码学 Stream Cipher">
            <a:extLst>
              <a:ext uri="{FF2B5EF4-FFF2-40B4-BE49-F238E27FC236}">
                <a16:creationId xmlns:a16="http://schemas.microsoft.com/office/drawing/2014/main" id="{56284262-264D-B287-AE00-ACA6E7F717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1561" y="3524354"/>
            <a:ext cx="1660074" cy="17487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2AD7995F-EE25-E082-EC4D-B2653F0EE7FB}"/>
              </a:ext>
            </a:extLst>
          </p:cNvPr>
          <p:cNvSpPr txBox="1"/>
          <p:nvPr/>
        </p:nvSpPr>
        <p:spPr>
          <a:xfrm>
            <a:off x="955069" y="5332934"/>
            <a:ext cx="21410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Trivium</a:t>
            </a:r>
            <a:r>
              <a:rPr kumimoji="1"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流密码算法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6CDDAAB1-7056-97D0-8F9C-1D9CE4A66BCE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0" y="5949280"/>
            <a:ext cx="9144000" cy="90237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285750" indent="-285750">
              <a:buFont typeface="Wingdings" panose="05000000000000000000" charset="0"/>
              <a:buChar char="l"/>
            </a:pPr>
            <a:r>
              <a:rPr lang="en-US" altLang="zh-CN" sz="1600" b="1" kern="1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Min</a:t>
            </a:r>
            <a:r>
              <a:rPr lang="zh-CN" altLang="en-US" sz="1600" b="1" kern="1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lang="en-US" altLang="zh-CN" sz="1600" b="1" kern="1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Zhang</a:t>
            </a:r>
            <a:r>
              <a:rPr lang="en-US" altLang="zh-CN" sz="1600" kern="1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and </a:t>
            </a:r>
            <a:r>
              <a:rPr lang="en-US" altLang="zh-CN" sz="1600" b="1" kern="1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Yao Sun. </a:t>
            </a:r>
            <a:r>
              <a:rPr lang="en-US" altLang="zh-CN" sz="1600" kern="1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A New Practical Cube Attack via Recovering Numerous </a:t>
            </a:r>
            <a:r>
              <a:rPr lang="en-US" altLang="zh-CN" sz="1600" kern="100" dirty="0" err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Superpolys</a:t>
            </a:r>
            <a:r>
              <a:rPr lang="en-US" altLang="zh-CN" sz="1600" kern="1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. </a:t>
            </a:r>
            <a:r>
              <a:rPr lang="en-US" altLang="zh-CN" sz="1600" b="1" dirty="0">
                <a:solidFill>
                  <a:srgbClr val="C00000"/>
                </a:solidFill>
                <a:latin typeface="Times New Roman" panose="02020603050405020304" pitchFamily="18" charset="0"/>
                <a:ea typeface="等线" panose="02010600030101010101" charset="-122"/>
                <a:sym typeface="+mn-ea"/>
              </a:rPr>
              <a:t>FSE</a:t>
            </a:r>
            <a:r>
              <a:rPr lang="zh-CN" altLang="en-US" sz="1600" b="1" dirty="0">
                <a:solidFill>
                  <a:srgbClr val="C00000"/>
                </a:solidFill>
                <a:latin typeface="Times New Roman" panose="02020603050405020304" pitchFamily="18" charset="0"/>
                <a:ea typeface="等线" panose="02010600030101010101" charset="-122"/>
                <a:sym typeface="+mn-ea"/>
              </a:rPr>
              <a:t> </a:t>
            </a:r>
            <a:r>
              <a:rPr lang="en-US" altLang="zh-CN" sz="1600" b="1" dirty="0">
                <a:solidFill>
                  <a:srgbClr val="C00000"/>
                </a:solidFill>
                <a:latin typeface="Times New Roman" panose="02020603050405020304" pitchFamily="18" charset="0"/>
                <a:ea typeface="等线" panose="02010600030101010101" charset="-122"/>
                <a:sym typeface="+mn-ea"/>
              </a:rPr>
              <a:t>2025</a:t>
            </a:r>
            <a:r>
              <a:rPr lang="en-US" altLang="zh-CN" sz="1600" kern="1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.38–63. 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CC1BB1F1-C400-E35C-09C7-CAF4FB0482A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19872" y="3297791"/>
            <a:ext cx="5033122" cy="2527982"/>
          </a:xfrm>
          <a:prstGeom prst="rect">
            <a:avLst/>
          </a:prstGeom>
        </p:spPr>
      </p:pic>
      <p:sp>
        <p:nvSpPr>
          <p:cNvPr id="8" name="矩形 7">
            <a:extLst>
              <a:ext uri="{FF2B5EF4-FFF2-40B4-BE49-F238E27FC236}">
                <a16:creationId xmlns:a16="http://schemas.microsoft.com/office/drawing/2014/main" id="{978D4135-EB22-7382-B32B-5F528B18C611}"/>
              </a:ext>
            </a:extLst>
          </p:cNvPr>
          <p:cNvSpPr/>
          <p:nvPr/>
        </p:nvSpPr>
        <p:spPr>
          <a:xfrm>
            <a:off x="3419872" y="5013176"/>
            <a:ext cx="5033122" cy="144016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AE5BAE7A-65F1-9309-904E-B36D3215CEDE}"/>
              </a:ext>
            </a:extLst>
          </p:cNvPr>
          <p:cNvSpPr/>
          <p:nvPr/>
        </p:nvSpPr>
        <p:spPr>
          <a:xfrm>
            <a:off x="3450906" y="5609749"/>
            <a:ext cx="5033122" cy="144016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577132942"/>
      </p:ext>
    </p:extLst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Box 5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0" y="-1270"/>
            <a:ext cx="9139555" cy="72000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accent3">
                <a:lumMod val="20000"/>
                <a:lumOff val="80000"/>
              </a:schemeClr>
            </a:solidFill>
            <a:miter lim="800000"/>
          </a:ln>
          <a:effectLst/>
        </p:spPr>
        <p:txBody>
          <a:bodyPr wrap="square" anchor="ctr" anchorCtr="0">
            <a:noAutofit/>
          </a:bodyPr>
          <a:lstStyle/>
          <a:p>
            <a:pPr lvl="0" algn="ctr">
              <a:buClrTx/>
              <a:buSzTx/>
              <a:buFontTx/>
            </a:pPr>
            <a:r>
              <a:rPr lang="zh-CN" altLang="en-US" sz="3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标志性成果</a:t>
            </a:r>
            <a:r>
              <a:rPr lang="en-US" altLang="zh-CN" sz="3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1</a:t>
            </a:r>
            <a:r>
              <a:rPr lang="zh-CN" altLang="en-US" sz="3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：新型实际</a:t>
            </a:r>
            <a:r>
              <a:rPr lang="en" altLang="zh-CN" sz="3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cube</a:t>
            </a:r>
            <a:r>
              <a:rPr lang="zh-CN" altLang="en-US" sz="3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攻击技术取得突破</a:t>
            </a:r>
            <a:endParaRPr sz="3200" b="1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5" name="内容占位符 4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0" y="724534"/>
            <a:ext cx="9144000" cy="3562509"/>
          </a:xfrm>
        </p:spPr>
        <p:txBody>
          <a:bodyPr vert="horz" lIns="91440" tIns="45720" rIns="91440" bIns="45720" rtlCol="0">
            <a:noAutofit/>
          </a:bodyPr>
          <a:lstStyle/>
          <a:p>
            <a:pPr lvl="0" algn="l" fontAlgn="auto">
              <a:lnSpc>
                <a:spcPts val="2600"/>
              </a:lnSpc>
              <a:spcBef>
                <a:spcPts val="0"/>
              </a:spcBef>
              <a:buClrTx/>
              <a:buSzTx/>
              <a:buFont typeface="Wingdings" panose="05000000000000000000" pitchFamily="2" charset="2"/>
              <a:buChar char="n"/>
            </a:pP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贡献 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1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：剪枝理论突破</a:t>
            </a:r>
            <a:endParaRPr lang="en-US" altLang="zh-CN" sz="2000" b="1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>
              <a:spcBef>
                <a:spcPts val="0"/>
              </a:spcBef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提出全新的剪枝理论，解决了以往方法中</a:t>
            </a:r>
            <a:r>
              <a:rPr lang="zh-CN" altLang="en-US" sz="20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大部分偶数解无法去除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的关键难题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>
              <a:spcBef>
                <a:spcPts val="0"/>
              </a:spcBef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在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832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轮场景中，传统算法几乎无法去掉冗余解</a:t>
            </a:r>
            <a:b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</a:b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我们的方法可去除</a:t>
            </a:r>
            <a:r>
              <a:rPr lang="en-US" altLang="zh-CN" sz="20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60%</a:t>
            </a:r>
            <a:r>
              <a:rPr lang="zh-CN" altLang="en-US" sz="20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～</a:t>
            </a:r>
            <a:r>
              <a:rPr lang="en-US" altLang="zh-CN" sz="20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95%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的冗余解，整体恢复过程加速</a:t>
            </a:r>
            <a:r>
              <a:rPr lang="en-US" altLang="zh-CN" sz="20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20</a:t>
            </a:r>
            <a:r>
              <a:rPr lang="zh-CN" altLang="en-US" sz="20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～</a:t>
            </a:r>
            <a:r>
              <a:rPr lang="en-US" altLang="zh-CN" sz="20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100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倍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lvl="0" algn="l" fontAlgn="auto">
              <a:lnSpc>
                <a:spcPts val="2600"/>
              </a:lnSpc>
              <a:spcBef>
                <a:spcPts val="0"/>
              </a:spcBef>
              <a:buClrTx/>
              <a:buSzTx/>
              <a:buFont typeface="Wingdings" panose="05000000000000000000" pitchFamily="2" charset="2"/>
              <a:buChar char="n"/>
            </a:pP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lvl="0" algn="l" fontAlgn="auto">
              <a:lnSpc>
                <a:spcPct val="150000"/>
              </a:lnSpc>
              <a:spcBef>
                <a:spcPts val="0"/>
              </a:spcBef>
              <a:buClrTx/>
              <a:buSzTx/>
              <a:buFont typeface="Wingdings" panose="05000000000000000000" pitchFamily="2" charset="2"/>
              <a:buChar char="n"/>
            </a:pP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贡献 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2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：新型求解方法</a:t>
            </a:r>
            <a:endParaRPr lang="en-US" altLang="zh-CN" sz="2000" b="1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lvl="0" algn="l" fontAlgn="auto">
              <a:lnSpc>
                <a:spcPts val="2600"/>
              </a:lnSpc>
              <a:spcBef>
                <a:spcPts val="0"/>
              </a:spcBef>
              <a:buClrTx/>
              <a:buSzTx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实现了此前无法处理的</a:t>
            </a:r>
            <a:r>
              <a:rPr lang="zh-CN" altLang="en-US" sz="20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大规模非线性方程系统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的求解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>
              <a:lnSpc>
                <a:spcPts val="2600"/>
              </a:lnSpc>
              <a:spcBef>
                <a:spcPts val="0"/>
              </a:spcBef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将攻击轮数从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2024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年的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825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轮提升至</a:t>
            </a:r>
            <a:r>
              <a:rPr lang="en-US" altLang="zh-CN" sz="20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832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轮</a:t>
            </a:r>
          </a:p>
          <a:p>
            <a:pPr marL="0" lvl="0" indent="0" algn="l" fontAlgn="auto">
              <a:lnSpc>
                <a:spcPts val="2600"/>
              </a:lnSpc>
              <a:spcBef>
                <a:spcPts val="0"/>
              </a:spcBef>
              <a:buClrTx/>
              <a:buSzTx/>
              <a:buNone/>
            </a:pP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lvl="0" algn="l" fontAlgn="auto">
              <a:lnSpc>
                <a:spcPts val="2600"/>
              </a:lnSpc>
              <a:spcBef>
                <a:spcPts val="0"/>
              </a:spcBef>
              <a:buClrTx/>
              <a:buSzTx/>
              <a:buFont typeface="Wingdings" panose="05000000000000000000" pitchFamily="2" charset="2"/>
              <a:buChar char="n"/>
            </a:pP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意义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：开辟了流密码高轮数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cube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攻击的全新思路，显著提升实际攻击能力</a:t>
            </a:r>
            <a:endParaRPr lang="en-US" altLang="zh-CN" sz="2000" kern="0" spc="50" noProof="0" dirty="0">
              <a:solidFill>
                <a:srgbClr val="003B6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16" name="矩形 15"/>
          <p:cNvSpPr/>
          <p:nvPr>
            <p:custDataLst>
              <p:tags r:id="rId3"/>
            </p:custDataLst>
          </p:nvPr>
        </p:nvSpPr>
        <p:spPr>
          <a:xfrm>
            <a:off x="0" y="5949280"/>
            <a:ext cx="9144000" cy="90237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285750" indent="-285750">
              <a:buFont typeface="Wingdings" panose="05000000000000000000" charset="0"/>
              <a:buChar char="l"/>
            </a:pPr>
            <a:r>
              <a:rPr lang="en-US" altLang="zh-CN" sz="1600" b="1" kern="1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Min</a:t>
            </a:r>
            <a:r>
              <a:rPr lang="zh-CN" altLang="en-US" sz="1600" b="1" kern="1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lang="en-US" altLang="zh-CN" sz="1600" b="1" kern="10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Zhang</a:t>
            </a:r>
            <a:r>
              <a:rPr lang="en-US" altLang="zh-CN" sz="1600" kern="10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lang="en-US" altLang="zh-CN" sz="1600" kern="1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and </a:t>
            </a:r>
            <a:r>
              <a:rPr lang="en-US" altLang="zh-CN" sz="1600" b="1" kern="1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Yao Sun. </a:t>
            </a:r>
            <a:r>
              <a:rPr lang="en-US" altLang="zh-CN" sz="1600" kern="1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A New Practical Cube Attack via Recovering Numerous </a:t>
            </a:r>
            <a:r>
              <a:rPr lang="en-US" altLang="zh-CN" sz="1600" kern="100" dirty="0" err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Superpolys</a:t>
            </a:r>
            <a:r>
              <a:rPr lang="en-US" altLang="zh-CN" sz="1600" kern="1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. </a:t>
            </a:r>
            <a:r>
              <a:rPr lang="en-US" altLang="zh-CN" sz="1600" b="1" dirty="0">
                <a:solidFill>
                  <a:srgbClr val="C00000"/>
                </a:solidFill>
                <a:latin typeface="Times New Roman" panose="02020603050405020304" pitchFamily="18" charset="0"/>
                <a:ea typeface="等线" panose="02010600030101010101" charset="-122"/>
                <a:sym typeface="+mn-ea"/>
              </a:rPr>
              <a:t>FSE</a:t>
            </a:r>
            <a:r>
              <a:rPr lang="zh-CN" altLang="en-US" sz="1600" b="1" dirty="0">
                <a:solidFill>
                  <a:srgbClr val="C00000"/>
                </a:solidFill>
                <a:latin typeface="Times New Roman" panose="02020603050405020304" pitchFamily="18" charset="0"/>
                <a:ea typeface="等线" panose="02010600030101010101" charset="-122"/>
                <a:sym typeface="+mn-ea"/>
              </a:rPr>
              <a:t> </a:t>
            </a:r>
            <a:r>
              <a:rPr lang="en-US" altLang="zh-CN" sz="1600" b="1" dirty="0">
                <a:solidFill>
                  <a:srgbClr val="C00000"/>
                </a:solidFill>
                <a:latin typeface="Times New Roman" panose="02020603050405020304" pitchFamily="18" charset="0"/>
                <a:ea typeface="等线" panose="02010600030101010101" charset="-122"/>
                <a:sym typeface="+mn-ea"/>
              </a:rPr>
              <a:t>2025</a:t>
            </a:r>
            <a:r>
              <a:rPr lang="en-US" altLang="zh-CN" sz="1600" kern="1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.38–63. 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14B9FF75-2014-638F-B3FA-3EF29A8E5F60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t="-1" b="-83"/>
          <a:stretch/>
        </p:blipFill>
        <p:spPr>
          <a:xfrm>
            <a:off x="1660662" y="4509120"/>
            <a:ext cx="5818230" cy="1218084"/>
          </a:xfrm>
          <a:prstGeom prst="rect">
            <a:avLst/>
          </a:prstGeom>
        </p:spPr>
      </p:pic>
      <p:sp>
        <p:nvSpPr>
          <p:cNvPr id="4" name="矩形 3">
            <a:extLst>
              <a:ext uri="{FF2B5EF4-FFF2-40B4-BE49-F238E27FC236}">
                <a16:creationId xmlns:a16="http://schemas.microsoft.com/office/drawing/2014/main" id="{40067197-38B8-28DA-FFBB-83A47C04CB1F}"/>
              </a:ext>
            </a:extLst>
          </p:cNvPr>
          <p:cNvSpPr/>
          <p:nvPr/>
        </p:nvSpPr>
        <p:spPr>
          <a:xfrm>
            <a:off x="1547664" y="4881629"/>
            <a:ext cx="6161654" cy="203555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BEC7F6D2-BC20-B81F-5A89-565EBCBD5504}"/>
              </a:ext>
            </a:extLst>
          </p:cNvPr>
          <p:cNvSpPr/>
          <p:nvPr/>
        </p:nvSpPr>
        <p:spPr>
          <a:xfrm>
            <a:off x="1547664" y="5457693"/>
            <a:ext cx="6161654" cy="203555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77572428"/>
      </p:ext>
    </p:extLst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Box 5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0" y="-1270"/>
            <a:ext cx="9139555" cy="72000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accent3">
                <a:lumMod val="20000"/>
                <a:lumOff val="80000"/>
              </a:schemeClr>
            </a:solidFill>
            <a:miter lim="800000"/>
          </a:ln>
          <a:effectLst/>
        </p:spPr>
        <p:txBody>
          <a:bodyPr wrap="square" anchor="ctr" anchorCtr="0">
            <a:noAutofit/>
          </a:bodyPr>
          <a:lstStyle/>
          <a:p>
            <a:pPr lvl="0" algn="ctr">
              <a:buClrTx/>
              <a:buSzTx/>
              <a:buFontTx/>
            </a:pPr>
            <a:r>
              <a:rPr lang="zh-CN" alt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标志性成果</a:t>
            </a:r>
            <a:r>
              <a:rPr lang="en-US" altLang="zh-CN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2</a:t>
            </a:r>
            <a:r>
              <a:rPr lang="zh-CN" alt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：第十届（</a:t>
            </a:r>
            <a:r>
              <a:rPr lang="en-US" altLang="zh-CN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2025</a:t>
            </a:r>
            <a:r>
              <a:rPr lang="zh-CN" alt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）全国高校密码数学挑战赛一等奖</a:t>
            </a:r>
            <a:endParaRPr sz="2400" b="1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5" name="内容占位符 4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0" y="724534"/>
            <a:ext cx="9144000" cy="3568561"/>
          </a:xfrm>
        </p:spPr>
        <p:txBody>
          <a:bodyPr vert="horz" lIns="91440" tIns="45720" rIns="91440" bIns="45720" rtlCol="0">
            <a:noAutofit/>
          </a:bodyPr>
          <a:lstStyle/>
          <a:p>
            <a:pPr lvl="0" algn="l" fontAlgn="auto">
              <a:lnSpc>
                <a:spcPct val="150000"/>
              </a:lnSpc>
              <a:spcBef>
                <a:spcPts val="0"/>
              </a:spcBef>
              <a:buClrTx/>
              <a:buSzTx/>
              <a:buFont typeface="Wingdings" panose="05000000000000000000" pitchFamily="2" charset="2"/>
              <a:buChar char="n"/>
            </a:pP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第十届（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2025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）全国高校密码数学挑战赛一等奖</a:t>
            </a:r>
            <a:endParaRPr lang="en-US" altLang="zh-CN" sz="2000" b="1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lvl="0" algn="l" fontAlgn="auto">
              <a:lnSpc>
                <a:spcPts val="2600"/>
              </a:lnSpc>
              <a:spcBef>
                <a:spcPts val="0"/>
              </a:spcBef>
              <a:buClrTx/>
              <a:buSzTx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共</a:t>
            </a:r>
            <a:r>
              <a:rPr lang="en-US" altLang="zh-CN" sz="20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280</a:t>
            </a:r>
            <a:r>
              <a:rPr lang="en-US" altLang="zh-CN" sz="2000" baseline="300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+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支队伍参加，评选</a:t>
            </a:r>
            <a:r>
              <a:rPr lang="en-US" altLang="zh-CN" sz="20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1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个特等奖和</a:t>
            </a:r>
            <a:r>
              <a:rPr lang="en-US" altLang="zh-CN" sz="20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6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个一等奖，我们团队荣获</a:t>
            </a:r>
            <a:r>
              <a:rPr lang="zh-CN" altLang="en-US" sz="20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一等奖</a:t>
            </a:r>
            <a:endParaRPr lang="en-US" altLang="zh-CN" sz="2000" b="1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lvl="0" algn="l" fontAlgn="auto">
              <a:lnSpc>
                <a:spcPct val="150000"/>
              </a:lnSpc>
              <a:spcBef>
                <a:spcPts val="0"/>
              </a:spcBef>
              <a:buClrTx/>
              <a:buSzTx/>
              <a:buFont typeface="Wingdings" panose="05000000000000000000" pitchFamily="2" charset="2"/>
              <a:buChar char="n"/>
            </a:pP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最短线性编程问题</a:t>
            </a:r>
            <a:endParaRPr lang="en-US" altLang="zh-CN" sz="2000" b="1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lvl="0" algn="l" fontAlgn="auto">
              <a:lnSpc>
                <a:spcPts val="2600"/>
              </a:lnSpc>
              <a:spcBef>
                <a:spcPts val="0"/>
              </a:spcBef>
              <a:buClrTx/>
              <a:buSzTx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提出了全新架构的</a:t>
            </a:r>
            <a:r>
              <a:rPr lang="zh-CN" altLang="en-US" sz="20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基于线性关系的</a:t>
            </a:r>
            <a:r>
              <a:rPr lang="en-US" altLang="zh-CN" sz="20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BP</a:t>
            </a:r>
            <a:r>
              <a:rPr lang="zh-CN" altLang="en-US" sz="20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算法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，较原始算法效率提升约</a:t>
            </a:r>
            <a:r>
              <a:rPr lang="en-US" altLang="zh-CN" sz="20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1000</a:t>
            </a:r>
            <a:r>
              <a:rPr lang="en-US" altLang="zh-CN" sz="2000" baseline="300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+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倍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lvl="0" algn="l" fontAlgn="auto">
              <a:lnSpc>
                <a:spcPts val="2600"/>
              </a:lnSpc>
              <a:spcBef>
                <a:spcPts val="0"/>
              </a:spcBef>
              <a:buClrTx/>
              <a:buSzTx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提出全新的子图重构方法刷新</a:t>
            </a:r>
            <a:r>
              <a:rPr lang="en" altLang="zh-CN" sz="20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AES</a:t>
            </a:r>
            <a:r>
              <a:rPr lang="zh-CN" altLang="en-US" sz="20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线性层实现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的国际最优记录</a:t>
            </a:r>
            <a:b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</a:br>
            <a:r>
              <a:rPr lang="en" altLang="zh-CN" sz="20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AES</a:t>
            </a:r>
            <a:r>
              <a:rPr lang="zh-CN" altLang="en-US" sz="20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线性层实现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的异或门数从（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21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年）</a:t>
            </a:r>
            <a:r>
              <a:rPr lang="en-US" altLang="zh-CN" sz="20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91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个缩减到</a:t>
            </a:r>
            <a:r>
              <a:rPr lang="en-US" altLang="zh-CN" sz="20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89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个</a:t>
            </a:r>
            <a:endParaRPr lang="en-US" altLang="zh-CN" sz="2000" b="1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pPr lvl="0" algn="l" fontAlgn="auto">
              <a:lnSpc>
                <a:spcPct val="150000"/>
              </a:lnSpc>
              <a:spcBef>
                <a:spcPts val="0"/>
              </a:spcBef>
              <a:buClrTx/>
              <a:buSzTx/>
              <a:buFont typeface="Wingdings" panose="05000000000000000000" pitchFamily="2" charset="2"/>
              <a:buChar char="n"/>
            </a:pP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意义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pPr lvl="0" algn="l" fontAlgn="auto">
              <a:lnSpc>
                <a:spcPct val="150000"/>
              </a:lnSpc>
              <a:spcBef>
                <a:spcPts val="0"/>
              </a:spcBef>
              <a:buClrTx/>
              <a:buSzTx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提供了全新的密码组件实现框架，推动了密码组件实现的国际研究进展</a:t>
            </a:r>
            <a:endParaRPr lang="en-US" altLang="zh-CN" sz="2000" kern="0" spc="50" noProof="0" dirty="0">
              <a:solidFill>
                <a:srgbClr val="003B6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C6624F12-2E14-1483-C983-22107E4EFA6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1508" y="4606911"/>
            <a:ext cx="3683210" cy="1785373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表格 3">
                <a:extLst>
                  <a:ext uri="{FF2B5EF4-FFF2-40B4-BE49-F238E27FC236}">
                    <a16:creationId xmlns:a16="http://schemas.microsoft.com/office/drawing/2014/main" id="{16E26081-53BB-5C54-CE97-F73CAC903527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3768825118"/>
                  </p:ext>
                </p:extLst>
              </p:nvPr>
            </p:nvGraphicFramePr>
            <p:xfrm>
              <a:off x="5292080" y="4450003"/>
              <a:ext cx="3564000" cy="1903606"/>
            </p:xfrm>
            <a:graphic>
              <a:graphicData uri="http://schemas.openxmlformats.org/drawingml/2006/table">
                <a:tbl>
                  <a:tblPr firstRow="1" bandRow="1">
                    <a:tableStyleId>{912C8C85-51F0-491E-9774-3900AFEF0FD7}</a:tableStyleId>
                  </a:tblPr>
                  <a:tblGrid>
                    <a:gridCol w="35640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</a:tblGrid>
                  <a:tr h="459118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altLang="zh-CN" sz="2000" dirty="0"/>
                            <a:t>LCB-BP</a:t>
                          </a:r>
                          <a:r>
                            <a:rPr lang="zh-CN" altLang="en-US" sz="2000" dirty="0"/>
                            <a:t>算法</a:t>
                          </a:r>
                        </a:p>
                      </a:txBody>
                      <a:tcPr anchor="ctr">
                        <a:solidFill>
                          <a:schemeClr val="accent6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475652"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 typeface="Arial" panose="020B0604020202020204" pitchFamily="34" charset="0"/>
                            <a:buNone/>
                            <a:tabLst/>
                            <a:defRPr/>
                          </a:pPr>
                          <a:r>
                            <a:rPr lang="zh-CN" altLang="en-US" sz="1800" dirty="0"/>
                            <a:t>保存最短线性组合</a:t>
                          </a:r>
                        </a:p>
                      </a:txBody>
                      <a:tcPr anchor="ctr">
                        <a:solidFill>
                          <a:schemeClr val="accent6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512556"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 typeface="Arial" panose="020B0604020202020204" pitchFamily="34" charset="0"/>
                            <a:buNone/>
                            <a:tabLst/>
                            <a:defRPr/>
                          </a:pPr>
                          <a:r>
                            <a:rPr lang="zh-CN" altLang="en-US" sz="1800" dirty="0"/>
                            <a:t>基于求解器</a:t>
                          </a:r>
                          <a:r>
                            <a:rPr lang="zh-CN" altLang="en-US" sz="1800" b="1" dirty="0"/>
                            <a:t>求解</a:t>
                          </a:r>
                          <a:r>
                            <a:rPr lang="zh-CN" altLang="en-US" sz="1800" dirty="0"/>
                            <a:t>线性组合</a:t>
                          </a:r>
                        </a:p>
                      </a:txBody>
                      <a:tcPr anchor="ctr">
                        <a:solidFill>
                          <a:schemeClr val="accent6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93601718"/>
                      </a:ext>
                    </a:extLst>
                  </a:tr>
                  <a:tr h="456280"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 typeface="Arial" panose="020B0604020202020204" pitchFamily="34" charset="0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m:rPr>
                                    <m:sty m:val="p"/>
                                  </m:rPr>
                                  <a:rPr lang="en-US" altLang="zh-CN" sz="1800" b="0" smtClean="0">
                                    <a:latin typeface="Cambria Math" panose="02040503050406030204" pitchFamily="18" charset="0"/>
                                  </a:rPr>
                                  <m:t>O</m:t>
                                </m:r>
                                <m:r>
                                  <a:rPr lang="en-US" altLang="zh-CN" sz="1800" b="0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m:rPr>
                                    <m:sty m:val="p"/>
                                  </m:rPr>
                                  <a:rPr lang="en-US" altLang="zh-CN" sz="1800" b="0" i="1" smtClean="0">
                                    <a:latin typeface="Cambria Math" panose="02040503050406030204" pitchFamily="18" charset="0"/>
                                  </a:rPr>
                                  <m:t>N</m:t>
                                </m:r>
                                <m:r>
                                  <a:rPr lang="en-US" altLang="zh-CN" sz="1800" b="0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zh-CN" altLang="en-US" sz="1800" dirty="0"/>
                        </a:p>
                      </a:txBody>
                      <a:tcPr anchor="ctr">
                        <a:solidFill>
                          <a:srgbClr val="FEF5EE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06016358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表格 3">
                <a:extLst>
                  <a:ext uri="{FF2B5EF4-FFF2-40B4-BE49-F238E27FC236}">
                    <a16:creationId xmlns:a16="http://schemas.microsoft.com/office/drawing/2014/main" id="{16E26081-53BB-5C54-CE97-F73CAC903527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3768825118"/>
                  </p:ext>
                </p:extLst>
              </p:nvPr>
            </p:nvGraphicFramePr>
            <p:xfrm>
              <a:off x="5292080" y="4450003"/>
              <a:ext cx="3564000" cy="1903606"/>
            </p:xfrm>
            <a:graphic>
              <a:graphicData uri="http://schemas.openxmlformats.org/drawingml/2006/table">
                <a:tbl>
                  <a:tblPr firstRow="1" bandRow="1">
                    <a:tableStyleId>{912C8C85-51F0-491E-9774-3900AFEF0FD7}</a:tableStyleId>
                  </a:tblPr>
                  <a:tblGrid>
                    <a:gridCol w="35640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</a:tblGrid>
                  <a:tr h="459118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altLang="zh-CN" sz="2000" dirty="0"/>
                            <a:t>LCB-BP</a:t>
                          </a:r>
                          <a:r>
                            <a:rPr lang="zh-CN" altLang="en-US" sz="2000" dirty="0"/>
                            <a:t>算法</a:t>
                          </a:r>
                        </a:p>
                      </a:txBody>
                      <a:tcPr anchor="ctr">
                        <a:solidFill>
                          <a:schemeClr val="accent6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475652"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 typeface="Arial" panose="020B0604020202020204" pitchFamily="34" charset="0"/>
                            <a:buNone/>
                            <a:tabLst/>
                            <a:defRPr/>
                          </a:pPr>
                          <a:r>
                            <a:rPr lang="zh-CN" altLang="en-US" sz="1800" dirty="0"/>
                            <a:t>保存最短线性组合</a:t>
                          </a:r>
                        </a:p>
                      </a:txBody>
                      <a:tcPr anchor="ctr">
                        <a:solidFill>
                          <a:schemeClr val="accent6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512556"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 typeface="Arial" panose="020B0604020202020204" pitchFamily="34" charset="0"/>
                            <a:buNone/>
                            <a:tabLst/>
                            <a:defRPr/>
                          </a:pPr>
                          <a:r>
                            <a:rPr lang="zh-CN" altLang="en-US" sz="1800" dirty="0"/>
                            <a:t>基于求解器</a:t>
                          </a:r>
                          <a:r>
                            <a:rPr lang="zh-CN" altLang="en-US" sz="1800" b="1" dirty="0"/>
                            <a:t>求解</a:t>
                          </a:r>
                          <a:r>
                            <a:rPr lang="zh-CN" altLang="en-US" sz="1800" dirty="0"/>
                            <a:t>线性组合</a:t>
                          </a:r>
                        </a:p>
                      </a:txBody>
                      <a:tcPr anchor="ctr">
                        <a:solidFill>
                          <a:schemeClr val="accent6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93601718"/>
                      </a:ext>
                    </a:extLst>
                  </a:tr>
                  <a:tr h="45628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6"/>
                          <a:stretch>
                            <a:fillRect t="-325000" r="-355" b="-277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06016358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459201191"/>
      </p:ext>
    </p:extLst>
  </p:cSld>
  <p:clrMapOvr>
    <a:masterClrMapping/>
  </p:clrMapOvr>
  <p:transition/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YTA3YTdlYWEzZmI4ZmUwMjU4ZGM2MjU1MDJhY2NkMWIifQ==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2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2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2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heme/theme1.xml><?xml version="1.0" encoding="utf-8"?>
<a:theme xmlns:a="http://schemas.openxmlformats.org/drawingml/2006/main" name="1_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1769</TotalTime>
  <Words>397</Words>
  <Application>Microsoft Macintosh PowerPoint</Application>
  <PresentationFormat>全屏显示(4:3)</PresentationFormat>
  <Paragraphs>35</Paragraphs>
  <Slides>3</Slides>
  <Notes>3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12" baseType="lpstr">
      <vt:lpstr>等线</vt:lpstr>
      <vt:lpstr>Microsoft YaHei</vt:lpstr>
      <vt:lpstr>Microsoft YaHei</vt:lpstr>
      <vt:lpstr>Arial</vt:lpstr>
      <vt:lpstr>Calibri</vt:lpstr>
      <vt:lpstr>Cambria Math</vt:lpstr>
      <vt:lpstr>Times New Roman</vt:lpstr>
      <vt:lpstr>Wingdings</vt:lpstr>
      <vt:lpstr>1_Office 主题</vt:lpstr>
      <vt:lpstr>PowerPoint 演示文稿</vt:lpstr>
      <vt:lpstr>PowerPoint 演示文稿</vt:lpstr>
      <vt:lpstr>PowerPoint 演示文稿</vt:lpstr>
    </vt:vector>
  </TitlesOfParts>
  <Company>Single Studio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独木成林</dc:creator>
  <cp:lastModifiedBy>敏 张</cp:lastModifiedBy>
  <cp:revision>851</cp:revision>
  <dcterms:created xsi:type="dcterms:W3CDTF">2013-12-03T08:55:00Z</dcterms:created>
  <dcterms:modified xsi:type="dcterms:W3CDTF">2026-07-12T04:18:02Z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2052-12.1.0.23542</vt:lpwstr>
  </property>
  <property fmtid="{D5CDD505-2E9C-101B-9397-08002B2CF9AE}" pid="3" name="ICV">
    <vt:lpwstr>AD0D1C4B1C7B4B63B0CD2861FC117D3D_13</vt:lpwstr>
  </property>
</Properties>
</file>